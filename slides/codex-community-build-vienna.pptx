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JuliusGruber/codex-community-build-vienna" TargetMode="External"/><Relationship Id="rId3" Type="http://schemas.openxmlformats.org/officeDocument/2006/relationships/hyperlink" Target="https://github.com/JuliusGruber/AI-Engineering-Coach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JuliusGruber/codex-community-build-vienna" TargetMode="External"/><Relationship Id="rId3" Type="http://schemas.openxmlformats.org/officeDocument/2006/relationships/hyperlink" Target="https://github.com/JuliusGruber/AI-Engineering-Coach" TargetMode="External"/><Relationship Id="rId4" Type="http://schemas.openxmlformats.org/officeDocument/2006/relationships/hyperlink" Target="https://codex-events.com/events/codex-build-vienna-2026-06-20?tab=detail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384048" cy="384048"/>
          </a:xfrm>
          <a:prstGeom prst="ellipse">
            <a:avLst/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2142" y="535838"/>
            <a:ext cx="153619" cy="153619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4114800" cy="457200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 spc="140">
                <a:solidFill>
                  <a:srgbClr val="030213"/>
                </a:solidFill>
                <a:latin typeface="Segoe UI Semibold"/>
              </a:rPr>
              <a:t>CODEX COMMUNITY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6E6E80"/>
                </a:solidFill>
                <a:latin typeface="Segoe UI"/>
              </a:rPr>
              <a:t>Build · Vienna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327648"/>
            <a:ext cx="10545775" cy="12700"/>
          </a:xfrm>
          <a:prstGeom prst="rect">
            <a:avLst/>
          </a:prstGeom>
          <a:solidFill>
            <a:srgbClr val="E6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850" b="0">
                <a:solidFill>
                  <a:srgbClr val="9A9AA8"/>
                </a:solidFill>
                <a:latin typeface="Segoe UI"/>
              </a:rPr>
              <a:t>codex-events.com   ·   Codex Community Build — Vienna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spc="60">
                <a:solidFill>
                  <a:srgbClr val="9A9AA8"/>
                </a:solidFill>
                <a:latin typeface="Segoe UI Semibold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909828" cy="292608"/>
          </a:xfrm>
          <a:prstGeom prst="roundRect">
            <a:avLst>
              <a:gd name="adj" fmla="val 50000"/>
            </a:avLst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0" spc="160">
                <a:solidFill>
                  <a:srgbClr val="FFFFFF"/>
                </a:solidFill>
                <a:latin typeface="Segoe UI Semibold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0">
                <a:solidFill>
                  <a:srgbClr val="030213"/>
                </a:solidFill>
                <a:latin typeface="Segoe UI Semibold"/>
              </a:rPr>
              <a:t>Codex Community Build</a:t>
            </a:r>
          </a:p>
          <a:p>
            <a:pPr>
              <a:lnSpc>
                <a:spcPct val="102000"/>
              </a:lnSpc>
            </a:pPr>
            <a:r>
              <a:rPr sz="4600" b="0">
                <a:solidFill>
                  <a:srgbClr val="030213"/>
                </a:solidFill>
                <a:latin typeface="Segoe UI Semibold"/>
              </a:rPr>
              <a:t>Vienna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10545775" cy="54864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1500" b="0">
                <a:solidFill>
                  <a:srgbClr val="030213"/>
                </a:solidFill>
                <a:latin typeface="Segoe UI Semibold"/>
              </a:rPr>
              <a:t>20 June 2026</a:t>
            </a:r>
            <a:r>
              <a:rPr sz="1500" b="0">
                <a:solidFill>
                  <a:srgbClr val="6E6E80"/>
                </a:solidFill>
                <a:latin typeface="Segoe UI"/>
              </a:rPr>
              <a:t>   ·   Vienna, Austria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384048" cy="384048"/>
          </a:xfrm>
          <a:prstGeom prst="ellipse">
            <a:avLst/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2142" y="535838"/>
            <a:ext cx="153619" cy="153619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4114800" cy="457200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 spc="140">
                <a:solidFill>
                  <a:srgbClr val="030213"/>
                </a:solidFill>
                <a:latin typeface="Segoe UI Semibold"/>
              </a:rPr>
              <a:t>CODEX COMMUNITY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6E6E80"/>
                </a:solidFill>
                <a:latin typeface="Segoe UI"/>
              </a:rPr>
              <a:t>Build · Vienna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327648"/>
            <a:ext cx="10545775" cy="12700"/>
          </a:xfrm>
          <a:prstGeom prst="rect">
            <a:avLst/>
          </a:prstGeom>
          <a:solidFill>
            <a:srgbClr val="E6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850" b="0">
                <a:solidFill>
                  <a:srgbClr val="9A9AA8"/>
                </a:solidFill>
                <a:latin typeface="Segoe UI"/>
              </a:rPr>
              <a:t>codex-events.com   ·   Codex Community Build — Vienna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spc="60">
                <a:solidFill>
                  <a:srgbClr val="9A9AA8"/>
                </a:solidFill>
                <a:latin typeface="Segoe UI Semibol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45775" cy="3657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1100" b="0" spc="180">
                <a:solidFill>
                  <a:srgbClr val="6E6E80"/>
                </a:solidFill>
                <a:latin typeface="Segoe UI Semibold"/>
              </a:rPr>
              <a:t>PROJECT REPOSITORIES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3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Segoe UI Semibold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31720"/>
            <a:ext cx="10042855" cy="548640"/>
          </a:xfrm>
          <a:prstGeom prst="rect">
            <a:avLst/>
          </a:prstGeom>
          <a:noFill/>
        </p:spPr>
        <p:txBody>
          <a:bodyPr wrap="square" anchor="ctr" lIns="0" tIns="0" bIns="0">
            <a:noAutofit/>
          </a:bodyPr>
          <a:lstStyle/>
          <a:p>
            <a:r>
              <a:rPr sz="2400" b="0" u="none">
                <a:solidFill>
                  <a:srgbClr val="030213"/>
                </a:solidFill>
                <a:latin typeface="Segoe UI Semibold"/>
                <a:hlinkClick r:id="rId2"/>
              </a:rPr>
              <a:t>github.com/JuliusGruber/codex-community-build-vienna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2899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Segoe UI Semibold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383279"/>
            <a:ext cx="10042855" cy="548640"/>
          </a:xfrm>
          <a:prstGeom prst="rect">
            <a:avLst/>
          </a:prstGeom>
          <a:noFill/>
        </p:spPr>
        <p:txBody>
          <a:bodyPr wrap="square" anchor="ctr" lIns="0" tIns="0" bIns="0">
            <a:noAutofit/>
          </a:bodyPr>
          <a:lstStyle/>
          <a:p>
            <a:r>
              <a:rPr sz="2400" b="0" u="none">
                <a:solidFill>
                  <a:srgbClr val="030213"/>
                </a:solidFill>
                <a:latin typeface="Segoe UI Semibold"/>
                <a:hlinkClick r:id="rId3"/>
              </a:rPr>
              <a:t>github.com/JuliusGruber/AI-Engineering-Coach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384048" cy="384048"/>
          </a:xfrm>
          <a:prstGeom prst="ellipse">
            <a:avLst/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2142" y="535838"/>
            <a:ext cx="153619" cy="153619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4114800" cy="457200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 spc="140">
                <a:solidFill>
                  <a:srgbClr val="030213"/>
                </a:solidFill>
                <a:latin typeface="Segoe UI Semibold"/>
              </a:rPr>
              <a:t>CODEX COMMUNITY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6E6E80"/>
                </a:solidFill>
                <a:latin typeface="Segoe UI"/>
              </a:rPr>
              <a:t>Build · Vienna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327648"/>
            <a:ext cx="10545775" cy="12700"/>
          </a:xfrm>
          <a:prstGeom prst="rect">
            <a:avLst/>
          </a:prstGeom>
          <a:solidFill>
            <a:srgbClr val="E6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850" b="0">
                <a:solidFill>
                  <a:srgbClr val="9A9AA8"/>
                </a:solidFill>
                <a:latin typeface="Segoe UI"/>
              </a:rPr>
              <a:t>codex-events.com   ·   Codex Community Build — Vienna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spc="60">
                <a:solidFill>
                  <a:srgbClr val="9A9AA8"/>
                </a:solidFill>
                <a:latin typeface="Segoe UI Semibol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73152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3000" b="0">
                <a:solidFill>
                  <a:srgbClr val="030213"/>
                </a:solidFill>
                <a:latin typeface="Segoe UI Semibold"/>
              </a:rPr>
              <a:t>AGENTS.md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29967"/>
            <a:ext cx="566928" cy="54864"/>
          </a:xfrm>
          <a:prstGeom prst="roundRect">
            <a:avLst>
              <a:gd name="adj" fmla="val 50000"/>
            </a:avLst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10545775" cy="4572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1400" b="0">
                <a:solidFill>
                  <a:srgbClr val="6E6E80"/>
                </a:solidFill>
                <a:latin typeface="Segoe UI"/>
              </a:rPr>
              <a:t>Durable, layered project guidance Codex loads from repo root toward the working directory.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10545775" cy="36118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 Semibold"/>
              </a:rPr>
              <a:t>Layered files — </a:t>
            </a:r>
            <a:r>
              <a:rPr sz="1600" b="0">
                <a:solidFill>
                  <a:srgbClr val="6E6E80"/>
                </a:solidFill>
                <a:latin typeface="Segoe UI"/>
              </a:rPr>
              <a:t>global ~/.codex/, repo-root AGENTS.md, nested AGENTS.md / AGENTS.override.md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 Semibold"/>
              </a:rPr>
              <a:t>Closer overrides broader — </a:t>
            </a:r>
            <a:r>
              <a:rPr sz="1600" b="0">
                <a:solidFill>
                  <a:srgbClr val="6E6E80"/>
                </a:solidFill>
                <a:latin typeface="Segoe UI"/>
              </a:rPr>
              <a:t>one file per directory; ~32 KiB combined limit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 Semibold"/>
              </a:rPr>
              <a:t>A good one covers — </a:t>
            </a:r>
            <a:r>
              <a:rPr sz="1600" b="0">
                <a:solidFill>
                  <a:srgbClr val="6E6E80"/>
                </a:solidFill>
                <a:latin typeface="Segoe UI"/>
              </a:rPr>
              <a:t>layout, how to run, build/test/lint, conventions &amp; PR expectations, do-not rules, what “done” means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 Semibold"/>
              </a:rPr>
              <a:t>Keep it practical — </a:t>
            </a:r>
            <a:r>
              <a:rPr sz="1600" b="0">
                <a:solidFill>
                  <a:srgbClr val="6E6E80"/>
                </a:solidFill>
                <a:latin typeface="Segoe UI"/>
              </a:rPr>
              <a:t>short and accurate beats long and vague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 Semibold"/>
              </a:rPr>
              <a:t>/init </a:t>
            </a:r>
            <a:r>
              <a:rPr sz="1600" b="0">
                <a:solidFill>
                  <a:srgbClr val="6E6E80"/>
                </a:solidFill>
                <a:latin typeface="Segoe UI"/>
              </a:rPr>
              <a:t>scaffolds a starter; update it when Codex repeats a mistake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 Semibold"/>
              </a:rPr>
              <a:t>Open format — </a:t>
            </a:r>
            <a:r>
              <a:rPr sz="1600" b="0">
                <a:solidFill>
                  <a:srgbClr val="6E6E80"/>
                </a:solidFill>
                <a:latin typeface="Segoe UI"/>
              </a:rPr>
              <a:t>stewarded by the Agentic AI Foundation (Linux Foundation)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384048" cy="384048"/>
          </a:xfrm>
          <a:prstGeom prst="ellipse">
            <a:avLst/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2142" y="535838"/>
            <a:ext cx="153619" cy="153619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4114800" cy="457200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 spc="140">
                <a:solidFill>
                  <a:srgbClr val="030213"/>
                </a:solidFill>
                <a:latin typeface="Segoe UI Semibold"/>
              </a:rPr>
              <a:t>CODEX COMMUNITY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6E6E80"/>
                </a:solidFill>
                <a:latin typeface="Segoe UI"/>
              </a:rPr>
              <a:t>Build · Vienna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327648"/>
            <a:ext cx="10545775" cy="12700"/>
          </a:xfrm>
          <a:prstGeom prst="rect">
            <a:avLst/>
          </a:prstGeom>
          <a:solidFill>
            <a:srgbClr val="E6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850" b="0">
                <a:solidFill>
                  <a:srgbClr val="9A9AA8"/>
                </a:solidFill>
                <a:latin typeface="Segoe UI"/>
              </a:rPr>
              <a:t>codex-events.com   ·   Codex Community Build — Vienna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spc="60">
                <a:solidFill>
                  <a:srgbClr val="9A9AA8"/>
                </a:solidFill>
                <a:latin typeface="Segoe UI Semibol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73152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3000" b="0">
                <a:solidFill>
                  <a:srgbClr val="030213"/>
                </a:solidFill>
                <a:latin typeface="Segoe UI Semibold"/>
              </a:rPr>
              <a:t>Codex Best Practices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29967"/>
            <a:ext cx="566928" cy="54864"/>
          </a:xfrm>
          <a:prstGeom prst="roundRect">
            <a:avLst>
              <a:gd name="adj" fmla="val 50000"/>
            </a:avLst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10545775" cy="4572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1400" b="0">
                <a:solidFill>
                  <a:srgbClr val="6E6E80"/>
                </a:solidFill>
                <a:latin typeface="Segoe UI"/>
              </a:rPr>
              <a:t>Treat Codex like a teammate you configure and improve over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5090007" cy="35661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Speech dictation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Model and reasoning effort (CLI)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Configure the status line (CLI)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Configure Codex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Enable Live Web Search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skills.md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560320"/>
            <a:ext cx="5090007" cy="35661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MCP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Worktrees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Plan mode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Prompt essentials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Review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600" b="0">
                <a:solidFill>
                  <a:srgbClr val="030213"/>
                </a:solidFill>
                <a:latin typeface="Segoe UI"/>
              </a:rPr>
              <a:t>Interrogatory LLM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384048" cy="384048"/>
          </a:xfrm>
          <a:prstGeom prst="ellipse">
            <a:avLst/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2142" y="535838"/>
            <a:ext cx="153619" cy="153619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4114800" cy="457200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 spc="140">
                <a:solidFill>
                  <a:srgbClr val="030213"/>
                </a:solidFill>
                <a:latin typeface="Segoe UI Semibold"/>
              </a:rPr>
              <a:t>CODEX COMMUNITY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6E6E80"/>
                </a:solidFill>
                <a:latin typeface="Segoe UI"/>
              </a:rPr>
              <a:t>Build · Vienna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327648"/>
            <a:ext cx="10545775" cy="12700"/>
          </a:xfrm>
          <a:prstGeom prst="rect">
            <a:avLst/>
          </a:prstGeom>
          <a:solidFill>
            <a:srgbClr val="E6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850" b="0">
                <a:solidFill>
                  <a:srgbClr val="9A9AA8"/>
                </a:solidFill>
                <a:latin typeface="Segoe UI"/>
              </a:rPr>
              <a:t>codex-events.com   ·   Codex Community Build — Vienna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spc="60">
                <a:solidFill>
                  <a:srgbClr val="9A9AA8"/>
                </a:solidFill>
                <a:latin typeface="Segoe UI Semibold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73152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3000" b="0">
                <a:solidFill>
                  <a:srgbClr val="030213"/>
                </a:solidFill>
                <a:latin typeface="Segoe UI Semibold"/>
              </a:rPr>
              <a:t>Top MCP servers for Codex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29967"/>
            <a:ext cx="566928" cy="54864"/>
          </a:xfrm>
          <a:prstGeom prst="roundRect">
            <a:avLst>
              <a:gd name="adj" fmla="val 50000"/>
            </a:avLst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10545775" cy="4572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1400" b="0">
                <a:solidFill>
                  <a:srgbClr val="6E6E80"/>
                </a:solidFill>
                <a:latin typeface="Segoe UI"/>
              </a:rPr>
              <a:t>Most-used MCP servers (ranked); 1–6 are high-confidence — named in OpenAI’s official Codex docs.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10545775" cy="36118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Context7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up-to-date, version-pinned library docs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Playwright MCP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browser automation via accessibility-tree snapshots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GitHub MCP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PRs, issues, code search, CI logs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Chrome DevTools MCP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drives live Chrome via CDP (perf, DOM, network)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Sentry MCP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production errors &amp; traces for debugging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Figma MCP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design specs/tokens → code (hosted)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Supabase MCP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Postgres/SQL, migrations, auth/storage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Also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Filesystem · Serena · OpenAI Docs MCP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384048" cy="384048"/>
          </a:xfrm>
          <a:prstGeom prst="ellipse">
            <a:avLst/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2142" y="535838"/>
            <a:ext cx="153619" cy="153619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4114800" cy="457200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 spc="140">
                <a:solidFill>
                  <a:srgbClr val="030213"/>
                </a:solidFill>
                <a:latin typeface="Segoe UI Semibold"/>
              </a:rPr>
              <a:t>CODEX COMMUNITY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6E6E80"/>
                </a:solidFill>
                <a:latin typeface="Segoe UI"/>
              </a:rPr>
              <a:t>Build · Vienna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327648"/>
            <a:ext cx="10545775" cy="12700"/>
          </a:xfrm>
          <a:prstGeom prst="rect">
            <a:avLst/>
          </a:prstGeom>
          <a:solidFill>
            <a:srgbClr val="E6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850" b="0">
                <a:solidFill>
                  <a:srgbClr val="9A9AA8"/>
                </a:solidFill>
                <a:latin typeface="Segoe UI"/>
              </a:rPr>
              <a:t>codex-events.com   ·   Codex Community Build — Vienna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spc="60">
                <a:solidFill>
                  <a:srgbClr val="9A9AA8"/>
                </a:solidFill>
                <a:latin typeface="Segoe UI Semibold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73152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3000" b="0">
                <a:solidFill>
                  <a:srgbClr val="030213"/>
                </a:solidFill>
                <a:latin typeface="Segoe UI Semibold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29967"/>
            <a:ext cx="566928" cy="54864"/>
          </a:xfrm>
          <a:prstGeom prst="roundRect">
            <a:avLst>
              <a:gd name="adj" fmla="val 50000"/>
            </a:avLst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10545775" cy="4572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1400" b="0">
                <a:solidFill>
                  <a:srgbClr val="6E6E80"/>
                </a:solidFill>
                <a:latin typeface="Segoe UI"/>
              </a:rPr>
              <a:t>A few pitfalls to avoid when first using Codex.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10545775" cy="36118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"/>
              </a:rPr>
              <a:t>Overloading the prompt instead of moving durable rules into AGENTS.md or a skill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"/>
              </a:rPr>
              <a:t>Not telling the agent how to run build and test commands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"/>
              </a:rPr>
              <a:t>Skipping planning on multi-step, complex tasks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"/>
              </a:rPr>
              <a:t>Granting full machine permission before you understand the workflow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"/>
              </a:rPr>
              <a:t>Running live threads on the same files without Git worktrees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"/>
              </a:rPr>
              <a:t>Automating a recurring task before it is reliable manually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"/>
              </a:rPr>
              <a:t>Babysitting Codex instead of running it in parallel with your own work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"/>
              </a:rPr>
              <a:t>One thread per project (bloated context) instead of one thread per task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384048" cy="384048"/>
          </a:xfrm>
          <a:prstGeom prst="ellipse">
            <a:avLst/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2142" y="535838"/>
            <a:ext cx="153619" cy="153619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4114800" cy="457200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 spc="140">
                <a:solidFill>
                  <a:srgbClr val="030213"/>
                </a:solidFill>
                <a:latin typeface="Segoe UI Semibold"/>
              </a:rPr>
              <a:t>CODEX COMMUNITY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6E6E80"/>
                </a:solidFill>
                <a:latin typeface="Segoe UI"/>
              </a:rPr>
              <a:t>Build · Vienna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327648"/>
            <a:ext cx="10545775" cy="12700"/>
          </a:xfrm>
          <a:prstGeom prst="rect">
            <a:avLst/>
          </a:prstGeom>
          <a:solidFill>
            <a:srgbClr val="E6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850" b="0">
                <a:solidFill>
                  <a:srgbClr val="9A9AA8"/>
                </a:solidFill>
                <a:latin typeface="Segoe UI"/>
              </a:rPr>
              <a:t>codex-events.com   ·   Codex Community Build — Vienna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spc="60">
                <a:solidFill>
                  <a:srgbClr val="9A9AA8"/>
                </a:solidFill>
                <a:latin typeface="Segoe UI Semibold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73152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3000" b="0">
                <a:solidFill>
                  <a:srgbClr val="030213"/>
                </a:solidFill>
                <a:latin typeface="Segoe UI Semibold"/>
              </a:rPr>
              <a:t>Deep research with subagents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29967"/>
            <a:ext cx="566928" cy="54864"/>
          </a:xfrm>
          <a:prstGeom prst="roundRect">
            <a:avLst>
              <a:gd name="adj" fmla="val 50000"/>
            </a:avLst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10545775" cy="4572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1400" b="0">
                <a:solidFill>
                  <a:srgbClr val="6E6E80"/>
                </a:solidFill>
                <a:latin typeface="Segoe UI"/>
              </a:rPr>
              <a:t>Codex has no separate “Deep Research” mode — build one by spawning parallel subagents.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10545775" cy="36118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Live search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run codex --search in the terminal (not inside a running chat)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Ask explicitly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“spawn N subagents in parallel” + “wait for all agents, then synthesize”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Bounded roles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primary-source · independent-source · skeptical reviewer · local-impact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Each agent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5–10 findings, source URLs + dates, facts vs. inferences, flag uncertainty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Limits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one coordinator + 3–5 agents; max_threads = 5, max_depth = 1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Safety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web content is untrusted; prefer read-only agents &amp; primary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384048" cy="384048"/>
          </a:xfrm>
          <a:prstGeom prst="ellipse">
            <a:avLst/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2142" y="535838"/>
            <a:ext cx="153619" cy="153619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4114800" cy="457200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 spc="140">
                <a:solidFill>
                  <a:srgbClr val="030213"/>
                </a:solidFill>
                <a:latin typeface="Segoe UI Semibold"/>
              </a:rPr>
              <a:t>CODEX COMMUNITY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6E6E80"/>
                </a:solidFill>
                <a:latin typeface="Segoe UI"/>
              </a:rPr>
              <a:t>Build · Vienna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327648"/>
            <a:ext cx="10545775" cy="12700"/>
          </a:xfrm>
          <a:prstGeom prst="rect">
            <a:avLst/>
          </a:prstGeom>
          <a:solidFill>
            <a:srgbClr val="E6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850" b="0">
                <a:solidFill>
                  <a:srgbClr val="9A9AA8"/>
                </a:solidFill>
                <a:latin typeface="Segoe UI"/>
              </a:rPr>
              <a:t>codex-events.com   ·   Codex Community Build — Vienna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spc="60">
                <a:solidFill>
                  <a:srgbClr val="9A9AA8"/>
                </a:solidFill>
                <a:latin typeface="Segoe UI Semibold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73152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3000" b="0">
                <a:solidFill>
                  <a:srgbClr val="030213"/>
                </a:solidFill>
                <a:latin typeface="Segoe UI Semibold"/>
              </a:rPr>
              <a:t>Superpowers solo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29967"/>
            <a:ext cx="566928" cy="54864"/>
          </a:xfrm>
          <a:prstGeom prst="roundRect">
            <a:avLst>
              <a:gd name="adj" fmla="val 50000"/>
            </a:avLst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10545775" cy="4572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1400" b="0">
                <a:solidFill>
                  <a:srgbClr val="6E6E80"/>
                </a:solidFill>
                <a:latin typeface="Segoe UI"/>
              </a:rPr>
              <a:t>Ambiguous request → reviewed spec → TDD implementation → verified release.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10545775" cy="36118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brainstorming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approved spec with scope &amp; acceptance criteria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writing-plans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task-sized TDD plan with exact files, commands, commits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subagent-driven / executing-plans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execute the plan task by task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test-driven-development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red → green → refactor for every behavior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systematic-debugging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reproduce, find root cause, add a regression test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requesting / receiving-code-review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severity-ranked review against the spec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>
                <a:solidFill>
                  <a:srgbClr val="030213"/>
                </a:solidFill>
                <a:latin typeface="Segoe UI Semibold"/>
              </a:rPr>
              <a:t>—  </a:t>
            </a:r>
            <a:r>
              <a:rPr sz="1550" b="0">
                <a:solidFill>
                  <a:srgbClr val="030213"/>
                </a:solidFill>
                <a:latin typeface="Segoe UI Semibold"/>
              </a:rPr>
              <a:t>verification-before-completion — </a:t>
            </a:r>
            <a:r>
              <a:rPr sz="1550" b="0">
                <a:solidFill>
                  <a:srgbClr val="6E6E80"/>
                </a:solidFill>
                <a:latin typeface="Segoe UI"/>
              </a:rPr>
              <a:t>fresh evidence, then commit &amp; push main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384048" cy="384048"/>
          </a:xfrm>
          <a:prstGeom prst="ellipse">
            <a:avLst/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2142" y="535838"/>
            <a:ext cx="153619" cy="153619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4114800" cy="457200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 spc="140">
                <a:solidFill>
                  <a:srgbClr val="030213"/>
                </a:solidFill>
                <a:latin typeface="Segoe UI Semibold"/>
              </a:rPr>
              <a:t>CODEX COMMUNITY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6E6E80"/>
                </a:solidFill>
                <a:latin typeface="Segoe UI"/>
              </a:rPr>
              <a:t>Build · Vienna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327648"/>
            <a:ext cx="10545775" cy="12700"/>
          </a:xfrm>
          <a:prstGeom prst="rect">
            <a:avLst/>
          </a:prstGeom>
          <a:solidFill>
            <a:srgbClr val="E6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45775" cy="32004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850" b="0">
                <a:solidFill>
                  <a:srgbClr val="9A9AA8"/>
                </a:solidFill>
                <a:latin typeface="Segoe UI"/>
              </a:rPr>
              <a:t>codex-events.com   ·   Codex Community Build — Vienna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spc="60">
                <a:solidFill>
                  <a:srgbClr val="9A9AA8"/>
                </a:solidFill>
                <a:latin typeface="Segoe UI Semibold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330452" cy="292608"/>
          </a:xfrm>
          <a:prstGeom prst="roundRect">
            <a:avLst>
              <a:gd name="adj" fmla="val 50000"/>
            </a:avLst>
          </a:prstGeom>
          <a:solidFill>
            <a:srgbClr val="030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0" spc="16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0545775" cy="9144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3800" b="0">
                <a:solidFill>
                  <a:srgbClr val="030213"/>
                </a:solidFill>
                <a:latin typeface="Segoe UI Semibold"/>
              </a:rPr>
              <a:t>Codex Community Build — Vienna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45775" cy="4114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1600" b="0">
                <a:solidFill>
                  <a:srgbClr val="030213"/>
                </a:solidFill>
                <a:latin typeface="Segoe UI Semibold"/>
              </a:rPr>
              <a:t>→  </a:t>
            </a:r>
            <a:r>
              <a:rPr sz="1600" b="0" u="none">
                <a:solidFill>
                  <a:srgbClr val="030213"/>
                </a:solidFill>
                <a:latin typeface="Segoe UI"/>
                <a:hlinkClick r:id="rId2"/>
              </a:rPr>
              <a:t>github.com/JuliusGruber/codex-community-build-vienna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10545775" cy="4114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1600" b="0">
                <a:solidFill>
                  <a:srgbClr val="030213"/>
                </a:solidFill>
                <a:latin typeface="Segoe UI Semibold"/>
              </a:rPr>
              <a:t>→  </a:t>
            </a:r>
            <a:r>
              <a:rPr sz="1600" b="0" u="none">
                <a:solidFill>
                  <a:srgbClr val="030213"/>
                </a:solidFill>
                <a:latin typeface="Segoe UI"/>
                <a:hlinkClick r:id="rId3"/>
              </a:rPr>
              <a:t>github.com/JuliusGruber/AI-Engineering-Coach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10545775" cy="4114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r>
              <a:rPr sz="1600" b="0">
                <a:solidFill>
                  <a:srgbClr val="030213"/>
                </a:solidFill>
                <a:latin typeface="Segoe UI Semibold"/>
              </a:rPr>
              <a:t>→  </a:t>
            </a:r>
            <a:r>
              <a:rPr sz="1600" b="0" u="none">
                <a:solidFill>
                  <a:srgbClr val="030213"/>
                </a:solidFill>
                <a:latin typeface="Segoe UI"/>
                <a:hlinkClick r:id="rId4"/>
              </a:rPr>
              <a:t>codex-events.com/events/codex-build-vienna-2026-06-20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30213"/>
      </a:hlink>
      <a:folHlink>
        <a:srgbClr val="03021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